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Open Sans Bold" panose="020B0806030504020204" charset="0"/>
      <p:regular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Telegraf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image" Target="../media/image4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svg"/><Relationship Id="rId15" Type="http://schemas.openxmlformats.org/officeDocument/2006/relationships/image" Target="../media/image2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svg"/><Relationship Id="rId7" Type="http://schemas.openxmlformats.org/officeDocument/2006/relationships/image" Target="../media/image23.svg"/><Relationship Id="rId12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.png"/><Relationship Id="rId5" Type="http://schemas.openxmlformats.org/officeDocument/2006/relationships/image" Target="../media/image21.svg"/><Relationship Id="rId10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2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10" Type="http://schemas.openxmlformats.org/officeDocument/2006/relationships/image" Target="../media/image3.png"/><Relationship Id="rId4" Type="http://schemas.openxmlformats.org/officeDocument/2006/relationships/image" Target="../media/image26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.png"/><Relationship Id="rId3" Type="http://schemas.openxmlformats.org/officeDocument/2006/relationships/image" Target="../media/image5.svg"/><Relationship Id="rId7" Type="http://schemas.openxmlformats.org/officeDocument/2006/relationships/image" Target="../media/image33.svg"/><Relationship Id="rId12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5.svg"/><Relationship Id="rId7" Type="http://schemas.openxmlformats.org/officeDocument/2006/relationships/image" Target="../media/image43.svg"/><Relationship Id="rId12" Type="http://schemas.openxmlformats.org/officeDocument/2006/relationships/image" Target="../media/image48.png"/><Relationship Id="rId2" Type="http://schemas.openxmlformats.org/officeDocument/2006/relationships/image" Target="../media/image4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svg"/><Relationship Id="rId15" Type="http://schemas.openxmlformats.org/officeDocument/2006/relationships/image" Target="../media/image2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svg"/><Relationship Id="rId1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99000">
              <a:srgbClr val="F6F9FC">
                <a:alpha val="22000"/>
              </a:srgbClr>
            </a:gs>
            <a:gs pos="100000">
              <a:srgbClr val="FF2929">
                <a:alpha val="54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32948" y="623039"/>
            <a:ext cx="11328092" cy="352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57"/>
              </a:lnSpc>
            </a:pPr>
            <a:r>
              <a:rPr lang="en-US" sz="111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Pitch Deck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95374" y="3821578"/>
            <a:ext cx="16230600" cy="86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57440" y="3882813"/>
            <a:ext cx="11706469" cy="252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0"/>
              </a:lnSpc>
            </a:pPr>
            <a:r>
              <a:rPr lang="en-US" sz="88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Web Based Editor</a:t>
            </a:r>
          </a:p>
        </p:txBody>
      </p:sp>
      <p:sp>
        <p:nvSpPr>
          <p:cNvPr id="5" name="Freeform 5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305800" y="210602"/>
            <a:ext cx="2918460" cy="1060031"/>
          </a:xfrm>
          <a:custGeom>
            <a:avLst/>
            <a:gdLst/>
            <a:ahLst/>
            <a:cxnLst/>
            <a:rect l="l" t="t" r="r" b="b"/>
            <a:pathLst>
              <a:path w="2918460" h="1060031">
                <a:moveTo>
                  <a:pt x="0" y="0"/>
                </a:moveTo>
                <a:lnTo>
                  <a:pt x="2918460" y="0"/>
                </a:lnTo>
                <a:lnTo>
                  <a:pt x="2918460" y="1060031"/>
                </a:lnTo>
                <a:lnTo>
                  <a:pt x="0" y="1060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657" b="-5657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57200" y="7886700"/>
            <a:ext cx="7543800" cy="652438"/>
            <a:chOff x="0" y="0"/>
            <a:chExt cx="10058400" cy="8699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58400" cy="869897"/>
            </a:xfrm>
            <a:custGeom>
              <a:avLst/>
              <a:gdLst/>
              <a:ahLst/>
              <a:cxnLst/>
              <a:rect l="l" t="t" r="r" b="b"/>
              <a:pathLst>
                <a:path w="10058400" h="869897">
                  <a:moveTo>
                    <a:pt x="0" y="0"/>
                  </a:moveTo>
                  <a:lnTo>
                    <a:pt x="10058400" y="0"/>
                  </a:lnTo>
                  <a:lnTo>
                    <a:pt x="10058400" y="869897"/>
                  </a:lnTo>
                  <a:lnTo>
                    <a:pt x="0" y="869897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0058400" cy="86991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spc="-1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VIVEK JHA                            – RTU Roll: 21EARCS182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60959" y="8148310"/>
            <a:ext cx="7543800" cy="652438"/>
            <a:chOff x="0" y="0"/>
            <a:chExt cx="10058400" cy="8699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58400" cy="869897"/>
            </a:xfrm>
            <a:custGeom>
              <a:avLst/>
              <a:gdLst/>
              <a:ahLst/>
              <a:cxnLst/>
              <a:rect l="l" t="t" r="r" b="b"/>
              <a:pathLst>
                <a:path w="10058400" h="869897">
                  <a:moveTo>
                    <a:pt x="0" y="0"/>
                  </a:moveTo>
                  <a:lnTo>
                    <a:pt x="10058400" y="0"/>
                  </a:lnTo>
                  <a:lnTo>
                    <a:pt x="10058400" y="869897"/>
                  </a:lnTo>
                  <a:lnTo>
                    <a:pt x="0" y="869897"/>
                  </a:lnTo>
                  <a:close/>
                </a:path>
              </a:pathLst>
            </a:custGeom>
            <a:solidFill>
              <a:srgbClr val="00B0F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0058400" cy="86991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r">
                <a:lnSpc>
                  <a:spcPts val="3359"/>
                </a:lnSpc>
              </a:pPr>
              <a:r>
                <a:rPr lang="en-US" sz="2799" b="1" spc="-1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Name of Mentor: Dr. Vibhakar Pathak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7144838"/>
            <a:ext cx="7543800" cy="652438"/>
            <a:chOff x="0" y="0"/>
            <a:chExt cx="10058400" cy="8699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58400" cy="869897"/>
            </a:xfrm>
            <a:custGeom>
              <a:avLst/>
              <a:gdLst/>
              <a:ahLst/>
              <a:cxnLst/>
              <a:rect l="l" t="t" r="r" b="b"/>
              <a:pathLst>
                <a:path w="10058400" h="869897">
                  <a:moveTo>
                    <a:pt x="0" y="0"/>
                  </a:moveTo>
                  <a:lnTo>
                    <a:pt x="10058400" y="0"/>
                  </a:lnTo>
                  <a:lnTo>
                    <a:pt x="10058400" y="869897"/>
                  </a:lnTo>
                  <a:lnTo>
                    <a:pt x="0" y="869897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0058400" cy="86991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spc="-1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SATYA RAJ PRAKASH         –RTU Roll: 21EARCS147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8704762"/>
            <a:ext cx="7543800" cy="652438"/>
            <a:chOff x="0" y="0"/>
            <a:chExt cx="10058400" cy="8699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58400" cy="869897"/>
            </a:xfrm>
            <a:custGeom>
              <a:avLst/>
              <a:gdLst/>
              <a:ahLst/>
              <a:cxnLst/>
              <a:rect l="l" t="t" r="r" b="b"/>
              <a:pathLst>
                <a:path w="10058400" h="869897">
                  <a:moveTo>
                    <a:pt x="0" y="0"/>
                  </a:moveTo>
                  <a:lnTo>
                    <a:pt x="10058400" y="0"/>
                  </a:lnTo>
                  <a:lnTo>
                    <a:pt x="10058400" y="869897"/>
                  </a:lnTo>
                  <a:lnTo>
                    <a:pt x="0" y="869897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0058400" cy="86991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spc="-1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SHREYA KEJRIWAL            – RTU Roll: 21EARCS155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9522825"/>
            <a:ext cx="7543800" cy="652438"/>
            <a:chOff x="0" y="0"/>
            <a:chExt cx="10058400" cy="86991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58400" cy="869897"/>
            </a:xfrm>
            <a:custGeom>
              <a:avLst/>
              <a:gdLst/>
              <a:ahLst/>
              <a:cxnLst/>
              <a:rect l="l" t="t" r="r" b="b"/>
              <a:pathLst>
                <a:path w="10058400" h="869897">
                  <a:moveTo>
                    <a:pt x="0" y="0"/>
                  </a:moveTo>
                  <a:lnTo>
                    <a:pt x="10058400" y="0"/>
                  </a:lnTo>
                  <a:lnTo>
                    <a:pt x="10058400" y="869897"/>
                  </a:lnTo>
                  <a:lnTo>
                    <a:pt x="0" y="869897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10058400" cy="86991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spc="-1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YASH RAUSHAN                – RTU Roll: 21EARCS186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24" r="-6324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735321"/>
            <a:ext cx="5066791" cy="6522979"/>
          </a:xfrm>
          <a:custGeom>
            <a:avLst/>
            <a:gdLst/>
            <a:ahLst/>
            <a:cxnLst/>
            <a:rect l="l" t="t" r="r" b="b"/>
            <a:pathLst>
              <a:path w="5066791" h="6522979">
                <a:moveTo>
                  <a:pt x="0" y="0"/>
                </a:moveTo>
                <a:lnTo>
                  <a:pt x="5066791" y="0"/>
                </a:lnTo>
                <a:lnTo>
                  <a:pt x="5066791" y="6522979"/>
                </a:lnTo>
                <a:lnTo>
                  <a:pt x="0" y="6522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610604" y="2735321"/>
            <a:ext cx="5066791" cy="6522979"/>
          </a:xfrm>
          <a:custGeom>
            <a:avLst/>
            <a:gdLst/>
            <a:ahLst/>
            <a:cxnLst/>
            <a:rect l="l" t="t" r="r" b="b"/>
            <a:pathLst>
              <a:path w="5066791" h="6522979">
                <a:moveTo>
                  <a:pt x="0" y="0"/>
                </a:moveTo>
                <a:lnTo>
                  <a:pt x="5066791" y="0"/>
                </a:lnTo>
                <a:lnTo>
                  <a:pt x="5066791" y="6522979"/>
                </a:lnTo>
                <a:lnTo>
                  <a:pt x="0" y="6522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91746" y="2735321"/>
            <a:ext cx="5066791" cy="6522979"/>
          </a:xfrm>
          <a:custGeom>
            <a:avLst/>
            <a:gdLst/>
            <a:ahLst/>
            <a:cxnLst/>
            <a:rect l="l" t="t" r="r" b="b"/>
            <a:pathLst>
              <a:path w="5066791" h="6522979">
                <a:moveTo>
                  <a:pt x="0" y="0"/>
                </a:moveTo>
                <a:lnTo>
                  <a:pt x="5066791" y="0"/>
                </a:lnTo>
                <a:lnTo>
                  <a:pt x="5066791" y="6522979"/>
                </a:lnTo>
                <a:lnTo>
                  <a:pt x="0" y="6522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618334" y="1761655"/>
            <a:ext cx="3775044" cy="3952002"/>
          </a:xfrm>
          <a:custGeom>
            <a:avLst/>
            <a:gdLst/>
            <a:ahLst/>
            <a:cxnLst/>
            <a:rect l="l" t="t" r="r" b="b"/>
            <a:pathLst>
              <a:path w="3775044" h="3952002">
                <a:moveTo>
                  <a:pt x="0" y="0"/>
                </a:moveTo>
                <a:lnTo>
                  <a:pt x="3775044" y="0"/>
                </a:lnTo>
                <a:lnTo>
                  <a:pt x="3775044" y="3952001"/>
                </a:lnTo>
                <a:lnTo>
                  <a:pt x="0" y="3952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200239" y="1761655"/>
            <a:ext cx="3775044" cy="3952002"/>
          </a:xfrm>
          <a:custGeom>
            <a:avLst/>
            <a:gdLst/>
            <a:ahLst/>
            <a:cxnLst/>
            <a:rect l="l" t="t" r="r" b="b"/>
            <a:pathLst>
              <a:path w="3775044" h="3952002">
                <a:moveTo>
                  <a:pt x="0" y="0"/>
                </a:moveTo>
                <a:lnTo>
                  <a:pt x="3775044" y="0"/>
                </a:lnTo>
                <a:lnTo>
                  <a:pt x="3775044" y="3952001"/>
                </a:lnTo>
                <a:lnTo>
                  <a:pt x="0" y="3952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81065" y="1761655"/>
            <a:ext cx="3775044" cy="3952002"/>
          </a:xfrm>
          <a:custGeom>
            <a:avLst/>
            <a:gdLst/>
            <a:ahLst/>
            <a:cxnLst/>
            <a:rect l="l" t="t" r="r" b="b"/>
            <a:pathLst>
              <a:path w="3775044" h="3952002">
                <a:moveTo>
                  <a:pt x="0" y="0"/>
                </a:moveTo>
                <a:lnTo>
                  <a:pt x="3775044" y="0"/>
                </a:lnTo>
                <a:lnTo>
                  <a:pt x="3775044" y="3952001"/>
                </a:lnTo>
                <a:lnTo>
                  <a:pt x="0" y="3952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4041311"/>
            <a:ext cx="5067554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Manual Translation of Pseudo-Code to Executable Code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5512" y="5950352"/>
            <a:ext cx="4594200" cy="168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Developers waste time manually converting pseudo-code to languages like Python or JavaScript.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10604" y="4041311"/>
            <a:ext cx="5066791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Unstructured Pseudo Code Writing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10604" y="5950352"/>
            <a:ext cx="5066791" cy="210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Users often struggle with writing pseudo code in environments that lack dedicated features, leading to cluttered code and reduced readability.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91746" y="4041311"/>
            <a:ext cx="5067554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Poor Readability and Difficulty in Debugging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91745" y="5950352"/>
            <a:ext cx="5066792" cy="210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Without proper visual cues, pseudo code can become difficult to read and debug, which slows down development and error resolution.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90571" y="2322770"/>
            <a:ext cx="154305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599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72475" y="2322770"/>
            <a:ext cx="154305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599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53301" y="2322770"/>
            <a:ext cx="154305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599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305800" y="210602"/>
            <a:ext cx="2918460" cy="1060031"/>
          </a:xfrm>
          <a:custGeom>
            <a:avLst/>
            <a:gdLst/>
            <a:ahLst/>
            <a:cxnLst/>
            <a:rect l="l" t="t" r="r" b="b"/>
            <a:pathLst>
              <a:path w="2918460" h="1060031">
                <a:moveTo>
                  <a:pt x="0" y="0"/>
                </a:moveTo>
                <a:lnTo>
                  <a:pt x="2918460" y="0"/>
                </a:lnTo>
                <a:lnTo>
                  <a:pt x="2918460" y="1060031"/>
                </a:lnTo>
                <a:lnTo>
                  <a:pt x="0" y="10600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5657" b="-5657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24" r="-6324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90070" y="1090008"/>
            <a:ext cx="7778730" cy="2862370"/>
          </a:xfrm>
          <a:custGeom>
            <a:avLst/>
            <a:gdLst/>
            <a:ahLst/>
            <a:cxnLst/>
            <a:rect l="l" t="t" r="r" b="b"/>
            <a:pathLst>
              <a:path w="7778730" h="2862370">
                <a:moveTo>
                  <a:pt x="0" y="0"/>
                </a:moveTo>
                <a:lnTo>
                  <a:pt x="7778730" y="0"/>
                </a:lnTo>
                <a:lnTo>
                  <a:pt x="7778730" y="2862370"/>
                </a:lnTo>
                <a:lnTo>
                  <a:pt x="0" y="2862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90070" y="3968049"/>
            <a:ext cx="7778730" cy="2862370"/>
          </a:xfrm>
          <a:custGeom>
            <a:avLst/>
            <a:gdLst/>
            <a:ahLst/>
            <a:cxnLst/>
            <a:rect l="l" t="t" r="r" b="b"/>
            <a:pathLst>
              <a:path w="7778730" h="2862370">
                <a:moveTo>
                  <a:pt x="0" y="0"/>
                </a:moveTo>
                <a:lnTo>
                  <a:pt x="7778730" y="0"/>
                </a:lnTo>
                <a:lnTo>
                  <a:pt x="7778730" y="2862370"/>
                </a:lnTo>
                <a:lnTo>
                  <a:pt x="0" y="2862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90070" y="6846091"/>
            <a:ext cx="7778730" cy="2862370"/>
          </a:xfrm>
          <a:custGeom>
            <a:avLst/>
            <a:gdLst/>
            <a:ahLst/>
            <a:cxnLst/>
            <a:rect l="l" t="t" r="r" b="b"/>
            <a:pathLst>
              <a:path w="7778730" h="2862370">
                <a:moveTo>
                  <a:pt x="0" y="0"/>
                </a:moveTo>
                <a:lnTo>
                  <a:pt x="7778730" y="0"/>
                </a:lnTo>
                <a:lnTo>
                  <a:pt x="7778730" y="2862370"/>
                </a:lnTo>
                <a:lnTo>
                  <a:pt x="0" y="2862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558615" y="1520990"/>
            <a:ext cx="2855880" cy="2828343"/>
          </a:xfrm>
          <a:custGeom>
            <a:avLst/>
            <a:gdLst/>
            <a:ahLst/>
            <a:cxnLst/>
            <a:rect l="l" t="t" r="r" b="b"/>
            <a:pathLst>
              <a:path w="2855880" h="2828343">
                <a:moveTo>
                  <a:pt x="0" y="0"/>
                </a:moveTo>
                <a:lnTo>
                  <a:pt x="2855880" y="0"/>
                </a:lnTo>
                <a:lnTo>
                  <a:pt x="2855880" y="2828343"/>
                </a:lnTo>
                <a:lnTo>
                  <a:pt x="0" y="2828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558615" y="4399032"/>
            <a:ext cx="2855880" cy="2828343"/>
          </a:xfrm>
          <a:custGeom>
            <a:avLst/>
            <a:gdLst/>
            <a:ahLst/>
            <a:cxnLst/>
            <a:rect l="l" t="t" r="r" b="b"/>
            <a:pathLst>
              <a:path w="2855880" h="2828343">
                <a:moveTo>
                  <a:pt x="0" y="0"/>
                </a:moveTo>
                <a:lnTo>
                  <a:pt x="2855880" y="0"/>
                </a:lnTo>
                <a:lnTo>
                  <a:pt x="2855880" y="2828343"/>
                </a:lnTo>
                <a:lnTo>
                  <a:pt x="0" y="2828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558615" y="7277073"/>
            <a:ext cx="2855880" cy="2828343"/>
          </a:xfrm>
          <a:custGeom>
            <a:avLst/>
            <a:gdLst/>
            <a:ahLst/>
            <a:cxnLst/>
            <a:rect l="l" t="t" r="r" b="b"/>
            <a:pathLst>
              <a:path w="2855880" h="2828343">
                <a:moveTo>
                  <a:pt x="0" y="0"/>
                </a:moveTo>
                <a:lnTo>
                  <a:pt x="2855880" y="0"/>
                </a:lnTo>
                <a:lnTo>
                  <a:pt x="2855880" y="2828343"/>
                </a:lnTo>
                <a:lnTo>
                  <a:pt x="0" y="2828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1" y="1084184"/>
            <a:ext cx="6616756" cy="8174115"/>
          </a:xfrm>
          <a:custGeom>
            <a:avLst/>
            <a:gdLst/>
            <a:ahLst/>
            <a:cxnLst/>
            <a:rect l="l" t="t" r="r" b="b"/>
            <a:pathLst>
              <a:path w="6616756" h="8174115">
                <a:moveTo>
                  <a:pt x="0" y="0"/>
                </a:moveTo>
                <a:lnTo>
                  <a:pt x="6616756" y="0"/>
                </a:lnTo>
                <a:lnTo>
                  <a:pt x="6616756" y="8174115"/>
                </a:lnTo>
                <a:lnTo>
                  <a:pt x="0" y="81741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498738" y="1446194"/>
            <a:ext cx="3789739" cy="7394612"/>
            <a:chOff x="0" y="0"/>
            <a:chExt cx="5052985" cy="98594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52949" cy="9859518"/>
            </a:xfrm>
            <a:custGeom>
              <a:avLst/>
              <a:gdLst/>
              <a:ahLst/>
              <a:cxnLst/>
              <a:rect l="l" t="t" r="r" b="b"/>
              <a:pathLst>
                <a:path w="5052949" h="9859518">
                  <a:moveTo>
                    <a:pt x="0" y="0"/>
                  </a:moveTo>
                  <a:lnTo>
                    <a:pt x="5052949" y="0"/>
                  </a:lnTo>
                  <a:lnTo>
                    <a:pt x="5052949" y="9859518"/>
                  </a:lnTo>
                  <a:lnTo>
                    <a:pt x="0" y="9859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" r="-14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349905" y="7171445"/>
            <a:ext cx="6087406" cy="3230759"/>
          </a:xfrm>
          <a:custGeom>
            <a:avLst/>
            <a:gdLst/>
            <a:ahLst/>
            <a:cxnLst/>
            <a:rect l="l" t="t" r="r" b="b"/>
            <a:pathLst>
              <a:path w="6087406" h="3230759">
                <a:moveTo>
                  <a:pt x="0" y="0"/>
                </a:moveTo>
                <a:lnTo>
                  <a:pt x="6087406" y="0"/>
                </a:lnTo>
                <a:lnTo>
                  <a:pt x="6087406" y="3230759"/>
                </a:lnTo>
                <a:lnTo>
                  <a:pt x="0" y="32307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341770" y="7748724"/>
            <a:ext cx="888295" cy="754243"/>
            <a:chOff x="0" y="0"/>
            <a:chExt cx="1184393" cy="10056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84402" cy="1005713"/>
            </a:xfrm>
            <a:custGeom>
              <a:avLst/>
              <a:gdLst/>
              <a:ahLst/>
              <a:cxnLst/>
              <a:rect l="l" t="t" r="r" b="b"/>
              <a:pathLst>
                <a:path w="1184402" h="1005713">
                  <a:moveTo>
                    <a:pt x="0" y="0"/>
                  </a:moveTo>
                  <a:lnTo>
                    <a:pt x="1184402" y="0"/>
                  </a:lnTo>
                  <a:lnTo>
                    <a:pt x="1184402" y="1005713"/>
                  </a:lnTo>
                  <a:lnTo>
                    <a:pt x="0" y="1005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16" b="-11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692105" y="1877353"/>
            <a:ext cx="1167341" cy="72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4339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92105" y="4755395"/>
            <a:ext cx="1167341" cy="72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4339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92105" y="7633436"/>
            <a:ext cx="1167341" cy="72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4339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84831" y="1496275"/>
            <a:ext cx="4173725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Solution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84831" y="4374316"/>
            <a:ext cx="4173725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Solution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84831" y="7252358"/>
            <a:ext cx="4173725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Solution 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84831" y="2111828"/>
            <a:ext cx="6383969" cy="170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19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Generate Code Function: Automatically converts pseudo-code into executable snippets.</a:t>
            </a:r>
          </a:p>
          <a:p>
            <a:pPr algn="l">
              <a:lnSpc>
                <a:spcPts val="2819"/>
              </a:lnSpc>
            </a:pPr>
            <a:r>
              <a:rPr lang="en-US" sz="2013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Multi-Language Support: Users select target languages reducing manual effort.</a:t>
            </a:r>
          </a:p>
          <a:p>
            <a:pPr algn="l">
              <a:lnSpc>
                <a:spcPts val="2679"/>
              </a:lnSpc>
            </a:pPr>
            <a:endParaRPr lang="en-US" sz="2013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684831" y="4949408"/>
            <a:ext cx="6383969" cy="1063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Dedicated Web-Based Editor: A focused platform tailored for pseudo code writing ensures that users have a clean and organized workspace.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4831" y="7778622"/>
            <a:ext cx="6383969" cy="1415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Syntax Highlighting: By color-coding keywords, variables, and comments, the editor enhances readability and makes spotting errors easier.</a:t>
            </a:r>
          </a:p>
          <a:p>
            <a:pPr algn="l">
              <a:lnSpc>
                <a:spcPts val="2819"/>
              </a:lnSpc>
            </a:pPr>
            <a:endParaRPr lang="en-US"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400010" y="7569586"/>
            <a:ext cx="3503900" cy="843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Brand Name</a:t>
            </a:r>
          </a:p>
        </p:txBody>
      </p:sp>
      <p:sp>
        <p:nvSpPr>
          <p:cNvPr id="25" name="Freeform 25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305800" y="210602"/>
            <a:ext cx="2918460" cy="1060031"/>
          </a:xfrm>
          <a:custGeom>
            <a:avLst/>
            <a:gdLst/>
            <a:ahLst/>
            <a:cxnLst/>
            <a:rect l="l" t="t" r="r" b="b"/>
            <a:pathLst>
              <a:path w="2918460" h="1060031">
                <a:moveTo>
                  <a:pt x="0" y="0"/>
                </a:moveTo>
                <a:lnTo>
                  <a:pt x="2918460" y="0"/>
                </a:lnTo>
                <a:lnTo>
                  <a:pt x="2918460" y="1060031"/>
                </a:lnTo>
                <a:lnTo>
                  <a:pt x="0" y="10600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5657" b="-5657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6324" r="-6324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524548" y="1095353"/>
            <a:ext cx="4650921" cy="3776768"/>
          </a:xfrm>
          <a:custGeom>
            <a:avLst/>
            <a:gdLst/>
            <a:ahLst/>
            <a:cxnLst/>
            <a:rect l="l" t="t" r="r" b="b"/>
            <a:pathLst>
              <a:path w="4650921" h="3776768">
                <a:moveTo>
                  <a:pt x="0" y="0"/>
                </a:moveTo>
                <a:lnTo>
                  <a:pt x="4650921" y="0"/>
                </a:lnTo>
                <a:lnTo>
                  <a:pt x="4650921" y="3776768"/>
                </a:lnTo>
                <a:lnTo>
                  <a:pt x="0" y="3776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8271" y="1123774"/>
            <a:ext cx="10726433" cy="3776768"/>
          </a:xfrm>
          <a:custGeom>
            <a:avLst/>
            <a:gdLst/>
            <a:ahLst/>
            <a:cxnLst/>
            <a:rect l="l" t="t" r="r" b="b"/>
            <a:pathLst>
              <a:path w="10726433" h="3776768">
                <a:moveTo>
                  <a:pt x="0" y="0"/>
                </a:moveTo>
                <a:lnTo>
                  <a:pt x="10726433" y="0"/>
                </a:lnTo>
                <a:lnTo>
                  <a:pt x="10726433" y="3776768"/>
                </a:lnTo>
                <a:lnTo>
                  <a:pt x="0" y="37767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309600" y="5245012"/>
            <a:ext cx="5219121" cy="4268015"/>
          </a:xfrm>
          <a:custGeom>
            <a:avLst/>
            <a:gdLst/>
            <a:ahLst/>
            <a:cxnLst/>
            <a:rect l="l" t="t" r="r" b="b"/>
            <a:pathLst>
              <a:path w="5219121" h="4268015">
                <a:moveTo>
                  <a:pt x="0" y="0"/>
                </a:moveTo>
                <a:lnTo>
                  <a:pt x="5219121" y="0"/>
                </a:lnTo>
                <a:lnTo>
                  <a:pt x="5219121" y="4268015"/>
                </a:lnTo>
                <a:lnTo>
                  <a:pt x="0" y="42680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03167" y="5245012"/>
            <a:ext cx="5219121" cy="4268015"/>
          </a:xfrm>
          <a:custGeom>
            <a:avLst/>
            <a:gdLst/>
            <a:ahLst/>
            <a:cxnLst/>
            <a:rect l="l" t="t" r="r" b="b"/>
            <a:pathLst>
              <a:path w="5219121" h="4268015">
                <a:moveTo>
                  <a:pt x="0" y="0"/>
                </a:moveTo>
                <a:lnTo>
                  <a:pt x="5219121" y="0"/>
                </a:lnTo>
                <a:lnTo>
                  <a:pt x="5219121" y="4268015"/>
                </a:lnTo>
                <a:lnTo>
                  <a:pt x="0" y="42680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8271" y="5245012"/>
            <a:ext cx="5219121" cy="4268015"/>
          </a:xfrm>
          <a:custGeom>
            <a:avLst/>
            <a:gdLst/>
            <a:ahLst/>
            <a:cxnLst/>
            <a:rect l="l" t="t" r="r" b="b"/>
            <a:pathLst>
              <a:path w="5219121" h="4268015">
                <a:moveTo>
                  <a:pt x="0" y="0"/>
                </a:moveTo>
                <a:lnTo>
                  <a:pt x="5219121" y="0"/>
                </a:lnTo>
                <a:lnTo>
                  <a:pt x="5219121" y="4268015"/>
                </a:lnTo>
                <a:lnTo>
                  <a:pt x="0" y="42680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98271" y="1613558"/>
            <a:ext cx="10924017" cy="261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</a:t>
            </a:r>
          </a:p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38032" y="1213483"/>
            <a:ext cx="4823953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Syntax Highlighting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36803" y="2955008"/>
            <a:ext cx="4045894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Enhances readability by applying different colors to keywords, variables, and comments.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09600" y="5663306"/>
            <a:ext cx="5219121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Real-Time Feedback and Error Display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09600" y="7048496"/>
            <a:ext cx="5219121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Offers immediate visual feedback on the code, highlighting errors or inconsistencies during writing and conversion.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03936" y="5663306"/>
            <a:ext cx="5219121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User-Friendly Layout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8271" y="5663306"/>
            <a:ext cx="5219121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Generate Code Functionality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3935" y="7108333"/>
            <a:ext cx="5219121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Organizes the interface into clear sections (e.g., editor area, integration guide, output display) based on a planned layout.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7108333"/>
            <a:ext cx="5088692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Converts the written pseudo code into executable code or a template in a target language (such as Python, C++, etc.)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305800" y="210602"/>
            <a:ext cx="2918460" cy="1060031"/>
          </a:xfrm>
          <a:custGeom>
            <a:avLst/>
            <a:gdLst/>
            <a:ahLst/>
            <a:cxnLst/>
            <a:rect l="l" t="t" r="r" b="b"/>
            <a:pathLst>
              <a:path w="2918460" h="1060031">
                <a:moveTo>
                  <a:pt x="0" y="0"/>
                </a:moveTo>
                <a:lnTo>
                  <a:pt x="2918460" y="0"/>
                </a:lnTo>
                <a:lnTo>
                  <a:pt x="2918460" y="1060031"/>
                </a:lnTo>
                <a:lnTo>
                  <a:pt x="0" y="10600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5657" b="-5657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324" r="-6324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4036556"/>
            <a:ext cx="5066791" cy="5488444"/>
          </a:xfrm>
          <a:custGeom>
            <a:avLst/>
            <a:gdLst/>
            <a:ahLst/>
            <a:cxnLst/>
            <a:rect l="l" t="t" r="r" b="b"/>
            <a:pathLst>
              <a:path w="5066791" h="5488444">
                <a:moveTo>
                  <a:pt x="0" y="0"/>
                </a:moveTo>
                <a:lnTo>
                  <a:pt x="5066791" y="0"/>
                </a:lnTo>
                <a:lnTo>
                  <a:pt x="5066791" y="5488444"/>
                </a:lnTo>
                <a:lnTo>
                  <a:pt x="0" y="548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610604" y="4036556"/>
            <a:ext cx="5066791" cy="5488444"/>
          </a:xfrm>
          <a:custGeom>
            <a:avLst/>
            <a:gdLst/>
            <a:ahLst/>
            <a:cxnLst/>
            <a:rect l="l" t="t" r="r" b="b"/>
            <a:pathLst>
              <a:path w="5066791" h="5488444">
                <a:moveTo>
                  <a:pt x="0" y="0"/>
                </a:moveTo>
                <a:lnTo>
                  <a:pt x="5066791" y="0"/>
                </a:lnTo>
                <a:lnTo>
                  <a:pt x="5066791" y="5488444"/>
                </a:lnTo>
                <a:lnTo>
                  <a:pt x="0" y="548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91746" y="4036556"/>
            <a:ext cx="5066791" cy="5488444"/>
          </a:xfrm>
          <a:custGeom>
            <a:avLst/>
            <a:gdLst/>
            <a:ahLst/>
            <a:cxnLst/>
            <a:rect l="l" t="t" r="r" b="b"/>
            <a:pathLst>
              <a:path w="5066791" h="5488444">
                <a:moveTo>
                  <a:pt x="0" y="0"/>
                </a:moveTo>
                <a:lnTo>
                  <a:pt x="5066791" y="0"/>
                </a:lnTo>
                <a:lnTo>
                  <a:pt x="5066791" y="5488444"/>
                </a:lnTo>
                <a:lnTo>
                  <a:pt x="0" y="548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02762" y="2721883"/>
            <a:ext cx="2918668" cy="2918668"/>
          </a:xfrm>
          <a:custGeom>
            <a:avLst/>
            <a:gdLst/>
            <a:ahLst/>
            <a:cxnLst/>
            <a:rect l="l" t="t" r="r" b="b"/>
            <a:pathLst>
              <a:path w="2918668" h="2918668">
                <a:moveTo>
                  <a:pt x="0" y="0"/>
                </a:moveTo>
                <a:lnTo>
                  <a:pt x="2918668" y="0"/>
                </a:lnTo>
                <a:lnTo>
                  <a:pt x="2918668" y="2918668"/>
                </a:lnTo>
                <a:lnTo>
                  <a:pt x="0" y="2918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84666" y="2721883"/>
            <a:ext cx="2918668" cy="2918668"/>
          </a:xfrm>
          <a:custGeom>
            <a:avLst/>
            <a:gdLst/>
            <a:ahLst/>
            <a:cxnLst/>
            <a:rect l="l" t="t" r="r" b="b"/>
            <a:pathLst>
              <a:path w="2918668" h="2918668">
                <a:moveTo>
                  <a:pt x="0" y="0"/>
                </a:moveTo>
                <a:lnTo>
                  <a:pt x="2918668" y="0"/>
                </a:lnTo>
                <a:lnTo>
                  <a:pt x="2918668" y="2918668"/>
                </a:lnTo>
                <a:lnTo>
                  <a:pt x="0" y="2918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268071" y="2721883"/>
            <a:ext cx="2918668" cy="2918668"/>
          </a:xfrm>
          <a:custGeom>
            <a:avLst/>
            <a:gdLst/>
            <a:ahLst/>
            <a:cxnLst/>
            <a:rect l="l" t="t" r="r" b="b"/>
            <a:pathLst>
              <a:path w="2918668" h="2918668">
                <a:moveTo>
                  <a:pt x="0" y="0"/>
                </a:moveTo>
                <a:lnTo>
                  <a:pt x="2918668" y="0"/>
                </a:lnTo>
                <a:lnTo>
                  <a:pt x="2918668" y="2918668"/>
                </a:lnTo>
                <a:lnTo>
                  <a:pt x="0" y="2918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9463" y="5130284"/>
            <a:ext cx="5066791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Students and Learners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9463" y="7194436"/>
            <a:ext cx="5066028" cy="168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Individuals at high school, college, or university levels who are learning programming and algorithmic thinking.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10604" y="5130284"/>
            <a:ext cx="5066791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Educators and Instructors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10604" y="7194436"/>
            <a:ext cx="5066791" cy="168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Teachers, professors, and coding boot camp instructors involved in teaching programming concepts.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52525" y="5130284"/>
            <a:ext cx="5067555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Aspiring and Junior Developers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91746" y="7194436"/>
            <a:ext cx="5028334" cy="168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Individuals starting their programming careers or early-stage developers looking to enhance their coding skills.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3296" y="1279526"/>
            <a:ext cx="13941409" cy="1349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ECA406"/>
                </a:solidFill>
                <a:latin typeface="Telegraf Bold"/>
                <a:ea typeface="Telegraf Bold"/>
                <a:cs typeface="Telegraf Bold"/>
                <a:sym typeface="Telegraf Bold"/>
              </a:rPr>
              <a:t>Target User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305800" y="210602"/>
            <a:ext cx="2918460" cy="1060031"/>
          </a:xfrm>
          <a:custGeom>
            <a:avLst/>
            <a:gdLst/>
            <a:ahLst/>
            <a:cxnLst/>
            <a:rect l="l" t="t" r="r" b="b"/>
            <a:pathLst>
              <a:path w="2918460" h="1060031">
                <a:moveTo>
                  <a:pt x="0" y="0"/>
                </a:moveTo>
                <a:lnTo>
                  <a:pt x="2918460" y="0"/>
                </a:lnTo>
                <a:lnTo>
                  <a:pt x="2918460" y="1060031"/>
                </a:lnTo>
                <a:lnTo>
                  <a:pt x="0" y="10600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5657" b="-565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24" r="-6324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270297"/>
            <a:ext cx="16230602" cy="3492203"/>
          </a:xfrm>
          <a:custGeom>
            <a:avLst/>
            <a:gdLst/>
            <a:ahLst/>
            <a:cxnLst/>
            <a:rect l="l" t="t" r="r" b="b"/>
            <a:pathLst>
              <a:path w="16230602" h="3492203">
                <a:moveTo>
                  <a:pt x="0" y="0"/>
                </a:moveTo>
                <a:lnTo>
                  <a:pt x="16230602" y="0"/>
                </a:lnTo>
                <a:lnTo>
                  <a:pt x="16230602" y="3492203"/>
                </a:lnTo>
                <a:lnTo>
                  <a:pt x="0" y="3492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5072744"/>
            <a:ext cx="3761490" cy="4185556"/>
          </a:xfrm>
          <a:custGeom>
            <a:avLst/>
            <a:gdLst/>
            <a:ahLst/>
            <a:cxnLst/>
            <a:rect l="l" t="t" r="r" b="b"/>
            <a:pathLst>
              <a:path w="3761490" h="4185556">
                <a:moveTo>
                  <a:pt x="0" y="0"/>
                </a:moveTo>
                <a:lnTo>
                  <a:pt x="3761490" y="0"/>
                </a:lnTo>
                <a:lnTo>
                  <a:pt x="3761490" y="4185556"/>
                </a:lnTo>
                <a:lnTo>
                  <a:pt x="0" y="4185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185071" y="5072744"/>
            <a:ext cx="3761490" cy="4185556"/>
          </a:xfrm>
          <a:custGeom>
            <a:avLst/>
            <a:gdLst/>
            <a:ahLst/>
            <a:cxnLst/>
            <a:rect l="l" t="t" r="r" b="b"/>
            <a:pathLst>
              <a:path w="3761490" h="4185556">
                <a:moveTo>
                  <a:pt x="0" y="0"/>
                </a:moveTo>
                <a:lnTo>
                  <a:pt x="3761490" y="0"/>
                </a:lnTo>
                <a:lnTo>
                  <a:pt x="3761490" y="4185556"/>
                </a:lnTo>
                <a:lnTo>
                  <a:pt x="0" y="4185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41441" y="5072744"/>
            <a:ext cx="3761490" cy="4185556"/>
          </a:xfrm>
          <a:custGeom>
            <a:avLst/>
            <a:gdLst/>
            <a:ahLst/>
            <a:cxnLst/>
            <a:rect l="l" t="t" r="r" b="b"/>
            <a:pathLst>
              <a:path w="3761490" h="4185556">
                <a:moveTo>
                  <a:pt x="0" y="0"/>
                </a:moveTo>
                <a:lnTo>
                  <a:pt x="3761490" y="0"/>
                </a:lnTo>
                <a:lnTo>
                  <a:pt x="3761490" y="4185556"/>
                </a:lnTo>
                <a:lnTo>
                  <a:pt x="0" y="4185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497812" y="5072744"/>
            <a:ext cx="3761490" cy="4185556"/>
          </a:xfrm>
          <a:custGeom>
            <a:avLst/>
            <a:gdLst/>
            <a:ahLst/>
            <a:cxnLst/>
            <a:rect l="l" t="t" r="r" b="b"/>
            <a:pathLst>
              <a:path w="3761490" h="4185556">
                <a:moveTo>
                  <a:pt x="0" y="0"/>
                </a:moveTo>
                <a:lnTo>
                  <a:pt x="3761490" y="0"/>
                </a:lnTo>
                <a:lnTo>
                  <a:pt x="3761490" y="4185556"/>
                </a:lnTo>
                <a:lnTo>
                  <a:pt x="0" y="4185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300388" y="5668047"/>
            <a:ext cx="1218113" cy="1063080"/>
            <a:chOff x="0" y="0"/>
            <a:chExt cx="1624151" cy="1417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24203" cy="1417447"/>
            </a:xfrm>
            <a:custGeom>
              <a:avLst/>
              <a:gdLst/>
              <a:ahLst/>
              <a:cxnLst/>
              <a:rect l="l" t="t" r="r" b="b"/>
              <a:pathLst>
                <a:path w="1624203" h="1417447">
                  <a:moveTo>
                    <a:pt x="0" y="0"/>
                  </a:moveTo>
                  <a:lnTo>
                    <a:pt x="1624203" y="0"/>
                  </a:lnTo>
                  <a:lnTo>
                    <a:pt x="1624203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0" r="3" b="-12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662798" y="5668047"/>
            <a:ext cx="856263" cy="1063080"/>
            <a:chOff x="0" y="0"/>
            <a:chExt cx="1141684" cy="1417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730" cy="1417447"/>
            </a:xfrm>
            <a:custGeom>
              <a:avLst/>
              <a:gdLst/>
              <a:ahLst/>
              <a:cxnLst/>
              <a:rect l="l" t="t" r="r" b="b"/>
              <a:pathLst>
                <a:path w="1141730" h="1417447">
                  <a:moveTo>
                    <a:pt x="0" y="0"/>
                  </a:moveTo>
                  <a:lnTo>
                    <a:pt x="1141730" y="0"/>
                  </a:lnTo>
                  <a:lnTo>
                    <a:pt x="1141730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37" r="-43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606284" y="5668047"/>
            <a:ext cx="1231803" cy="1063080"/>
            <a:chOff x="0" y="0"/>
            <a:chExt cx="1642404" cy="1417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42364" cy="1417447"/>
            </a:xfrm>
            <a:custGeom>
              <a:avLst/>
              <a:gdLst/>
              <a:ahLst/>
              <a:cxnLst/>
              <a:rect l="l" t="t" r="r" b="b"/>
              <a:pathLst>
                <a:path w="1642364" h="1417447">
                  <a:moveTo>
                    <a:pt x="0" y="0"/>
                  </a:moveTo>
                  <a:lnTo>
                    <a:pt x="1642364" y="0"/>
                  </a:lnTo>
                  <a:lnTo>
                    <a:pt x="1642364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86" r="-8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4817429" y="5668047"/>
            <a:ext cx="1122253" cy="1063080"/>
            <a:chOff x="0" y="0"/>
            <a:chExt cx="1496337" cy="1417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96314" cy="1417447"/>
            </a:xfrm>
            <a:custGeom>
              <a:avLst/>
              <a:gdLst/>
              <a:ahLst/>
              <a:cxnLst/>
              <a:rect l="l" t="t" r="r" b="b"/>
              <a:pathLst>
                <a:path w="1496314" h="1417447">
                  <a:moveTo>
                    <a:pt x="0" y="0"/>
                  </a:moveTo>
                  <a:lnTo>
                    <a:pt x="1496314" y="0"/>
                  </a:lnTo>
                  <a:lnTo>
                    <a:pt x="1496314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99" r="-1" b="-98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3858437" y="3146385"/>
            <a:ext cx="10571125" cy="91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Your main Competitors and their products, how are they different and what value do you provide to your customers?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19799" y="2107968"/>
            <a:ext cx="11648402" cy="1015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Competitive Analysis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8743" y="7077075"/>
            <a:ext cx="3361402" cy="128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ctr">
              <a:lnSpc>
                <a:spcPts val="3358"/>
              </a:lnSpc>
            </a:pPr>
            <a:r>
              <a:rPr lang="en-IN" sz="2400" b="1" dirty="0" err="1"/>
              <a:t>Replit</a:t>
            </a:r>
            <a:endParaRPr lang="en-IN" sz="2400" b="1" dirty="0"/>
          </a:p>
          <a:p>
            <a:pPr lvl="1" algn="ctr">
              <a:lnSpc>
                <a:spcPts val="3358"/>
              </a:lnSpc>
            </a:pPr>
            <a:r>
              <a:rPr lang="en-IN" sz="2400" b="1" dirty="0"/>
              <a:t> </a:t>
            </a:r>
            <a:r>
              <a:rPr lang="en-IN" sz="2400" b="1" dirty="0" err="1"/>
              <a:t>CodePen</a:t>
            </a:r>
            <a:endParaRPr lang="en-IN" sz="2400" b="1" dirty="0"/>
          </a:p>
          <a:p>
            <a:pPr lvl="1" algn="ctr">
              <a:lnSpc>
                <a:spcPts val="3358"/>
              </a:lnSpc>
            </a:pPr>
            <a:r>
              <a:rPr lang="en-IN" sz="2400" b="1" dirty="0"/>
              <a:t> </a:t>
            </a:r>
            <a:r>
              <a:rPr lang="en-IN" sz="2400" b="1" dirty="0" err="1"/>
              <a:t>JSFiddle</a:t>
            </a:r>
            <a:endParaRPr lang="en-IN" sz="2400" b="1" dirty="0"/>
          </a:p>
        </p:txBody>
      </p:sp>
      <p:sp>
        <p:nvSpPr>
          <p:cNvPr id="19" name="TextBox 19"/>
          <p:cNvSpPr txBox="1"/>
          <p:nvPr/>
        </p:nvSpPr>
        <p:spPr>
          <a:xfrm>
            <a:off x="5385114" y="7077075"/>
            <a:ext cx="3361402" cy="171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IN" sz="2400" b="1" dirty="0"/>
              <a:t>AI-Powered Pseudocode Conversion</a:t>
            </a:r>
            <a:r>
              <a:rPr lang="en-IN" sz="2400" dirty="0"/>
              <a:t> – Converts pseudocode into Python, Java, C++, etc.</a:t>
            </a:r>
            <a:r>
              <a:rPr lang="en-US" sz="2400" dirty="0">
                <a:solidFill>
                  <a:srgbClr val="202124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97855" y="7124700"/>
            <a:ext cx="3361402" cy="1845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IN" sz="2400" b="1" dirty="0"/>
              <a:t>Integration with Learning Platforms</a:t>
            </a:r>
            <a:r>
              <a:rPr lang="en-IN" sz="2400" dirty="0"/>
              <a:t> – Partnering with </a:t>
            </a:r>
            <a:r>
              <a:rPr lang="en-IN" sz="2400" dirty="0" err="1"/>
              <a:t>LeetCode</a:t>
            </a:r>
            <a:r>
              <a:rPr lang="en-IN" sz="2400" dirty="0"/>
              <a:t>, </a:t>
            </a:r>
            <a:r>
              <a:rPr lang="en-IN" sz="2400" dirty="0" err="1"/>
              <a:t>HackerRank</a:t>
            </a:r>
            <a:r>
              <a:rPr lang="en-IN" sz="2400" dirty="0"/>
              <a:t> for real-world coding exercises.</a:t>
            </a:r>
            <a:endParaRPr lang="en-US" sz="2400" dirty="0">
              <a:solidFill>
                <a:srgbClr val="202124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541484" y="7077075"/>
            <a:ext cx="3361402" cy="171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IN" sz="2400" b="1" dirty="0"/>
              <a:t>Cloud-Based Code Execution</a:t>
            </a:r>
            <a:r>
              <a:rPr lang="en-IN" sz="2400" dirty="0"/>
              <a:t> – Users can run their pseudocode in a secure environment.</a:t>
            </a:r>
            <a:endParaRPr lang="en-US" sz="2400" dirty="0">
              <a:solidFill>
                <a:srgbClr val="202124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305800" y="210602"/>
            <a:ext cx="2918460" cy="1060031"/>
          </a:xfrm>
          <a:custGeom>
            <a:avLst/>
            <a:gdLst/>
            <a:ahLst/>
            <a:cxnLst/>
            <a:rect l="l" t="t" r="r" b="b"/>
            <a:pathLst>
              <a:path w="2918460" h="1060031">
                <a:moveTo>
                  <a:pt x="0" y="0"/>
                </a:moveTo>
                <a:lnTo>
                  <a:pt x="2918460" y="0"/>
                </a:lnTo>
                <a:lnTo>
                  <a:pt x="2918460" y="1060031"/>
                </a:lnTo>
                <a:lnTo>
                  <a:pt x="0" y="106003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5657" b="-5657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6324" r="-6324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8200" y="1132627"/>
            <a:ext cx="16230600" cy="1260864"/>
          </a:xfrm>
          <a:custGeom>
            <a:avLst/>
            <a:gdLst/>
            <a:ahLst/>
            <a:cxnLst/>
            <a:rect l="l" t="t" r="r" b="b"/>
            <a:pathLst>
              <a:path w="16230600" h="1260864">
                <a:moveTo>
                  <a:pt x="0" y="0"/>
                </a:moveTo>
                <a:lnTo>
                  <a:pt x="16230600" y="0"/>
                </a:lnTo>
                <a:lnTo>
                  <a:pt x="16230600" y="1260864"/>
                </a:lnTo>
                <a:lnTo>
                  <a:pt x="0" y="1260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10836" y="2372536"/>
            <a:ext cx="10571124" cy="47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Cost of creating prototype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72198" y="1433216"/>
            <a:ext cx="11648401" cy="98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ECA406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Financial Assessment </a:t>
            </a:r>
          </a:p>
        </p:txBody>
      </p:sp>
      <p:sp>
        <p:nvSpPr>
          <p:cNvPr id="6" name="Freeform 6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05800" y="210602"/>
            <a:ext cx="2918460" cy="1060031"/>
          </a:xfrm>
          <a:custGeom>
            <a:avLst/>
            <a:gdLst/>
            <a:ahLst/>
            <a:cxnLst/>
            <a:rect l="l" t="t" r="r" b="b"/>
            <a:pathLst>
              <a:path w="2918460" h="1060031">
                <a:moveTo>
                  <a:pt x="0" y="0"/>
                </a:moveTo>
                <a:lnTo>
                  <a:pt x="2918460" y="0"/>
                </a:lnTo>
                <a:lnTo>
                  <a:pt x="2918460" y="1060031"/>
                </a:lnTo>
                <a:lnTo>
                  <a:pt x="0" y="10600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657" b="-565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324" r="-6324"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8F26E-E02D-4E6D-903D-4C7F0C844F08}"/>
              </a:ext>
            </a:extLst>
          </p:cNvPr>
          <p:cNvSpPr txBox="1"/>
          <p:nvPr/>
        </p:nvSpPr>
        <p:spPr>
          <a:xfrm>
            <a:off x="838200" y="3005724"/>
            <a:ext cx="1546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Infrastructure &amp; Hosting Costs:</a:t>
            </a:r>
          </a:p>
          <a:p>
            <a:endParaRPr lang="en-IN" sz="3200" b="1" dirty="0"/>
          </a:p>
          <a:p>
            <a:endParaRPr lang="en-IN" sz="3200" b="1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7F8780C-75B9-1FC3-1505-3964AF477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575821"/>
              </p:ext>
            </p:extLst>
          </p:nvPr>
        </p:nvGraphicFramePr>
        <p:xfrm>
          <a:off x="960474" y="3956214"/>
          <a:ext cx="16108326" cy="3912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9442">
                  <a:extLst>
                    <a:ext uri="{9D8B030D-6E8A-4147-A177-3AD203B41FA5}">
                      <a16:colId xmlns:a16="http://schemas.microsoft.com/office/drawing/2014/main" val="1758961283"/>
                    </a:ext>
                  </a:extLst>
                </a:gridCol>
                <a:gridCol w="5369442">
                  <a:extLst>
                    <a:ext uri="{9D8B030D-6E8A-4147-A177-3AD203B41FA5}">
                      <a16:colId xmlns:a16="http://schemas.microsoft.com/office/drawing/2014/main" val="692201532"/>
                    </a:ext>
                  </a:extLst>
                </a:gridCol>
                <a:gridCol w="5369442">
                  <a:extLst>
                    <a:ext uri="{9D8B030D-6E8A-4147-A177-3AD203B41FA5}">
                      <a16:colId xmlns:a16="http://schemas.microsoft.com/office/drawing/2014/main" val="2000393744"/>
                    </a:ext>
                  </a:extLst>
                </a:gridCol>
              </a:tblGrid>
              <a:tr h="755617">
                <a:tc>
                  <a:txBody>
                    <a:bodyPr/>
                    <a:lstStyle/>
                    <a:p>
                      <a:r>
                        <a:rPr lang="en-IN" sz="2400" b="1" dirty="0"/>
                        <a:t>Service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Estimated Monthly Cost (₹)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Annual Cost (₹)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152820"/>
                  </a:ext>
                </a:extLst>
              </a:tr>
              <a:tr h="755617">
                <a:tc>
                  <a:txBody>
                    <a:bodyPr/>
                    <a:lstStyle/>
                    <a:p>
                      <a:r>
                        <a:rPr lang="en-IN" sz="2400" b="1" dirty="0"/>
                        <a:t>Cloud Hosting (AWS/GCP/VPS)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₹4,150 – ₹16,600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₹49,800 – ₹1,99,200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089931"/>
                  </a:ext>
                </a:extLst>
              </a:tr>
              <a:tr h="755617">
                <a:tc>
                  <a:txBody>
                    <a:bodyPr/>
                    <a:lstStyle/>
                    <a:p>
                      <a:r>
                        <a:rPr lang="en-IN" sz="2400" b="1"/>
                        <a:t>Database (MongoDB, PostgreSQL, Firebase, etc.)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₹2,500 – ₹8,300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₹29,800 – ₹99,600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419470"/>
                  </a:ext>
                </a:extLst>
              </a:tr>
              <a:tr h="755617">
                <a:tc>
                  <a:txBody>
                    <a:bodyPr/>
                    <a:lstStyle/>
                    <a:p>
                      <a:r>
                        <a:rPr lang="en-IN" sz="2400" b="1"/>
                        <a:t>AI Model Hosting (OpenAI API, Hugging Face, etc.)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₹8,300 – ₹41,500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₹99,600 – ₹4,98,000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268226"/>
                  </a:ext>
                </a:extLst>
              </a:tr>
              <a:tr h="755617">
                <a:tc>
                  <a:txBody>
                    <a:bodyPr/>
                    <a:lstStyle/>
                    <a:p>
                      <a:r>
                        <a:rPr lang="en-IN" sz="2400" b="1"/>
                        <a:t>Domain &amp; SSL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₹830 – ₹2,500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₹9,960 – ₹29,800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70101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C415CA1-CBED-BDD0-459C-84901737C5C1}"/>
              </a:ext>
            </a:extLst>
          </p:cNvPr>
          <p:cNvSpPr txBox="1"/>
          <p:nvPr/>
        </p:nvSpPr>
        <p:spPr>
          <a:xfrm>
            <a:off x="935195" y="8258995"/>
            <a:ext cx="16641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Estimated Infra Cost:</a:t>
            </a:r>
            <a:r>
              <a:rPr lang="en-IN" sz="2400" dirty="0"/>
              <a:t> </a:t>
            </a:r>
            <a:r>
              <a:rPr lang="en-IN" sz="2400" b="1" dirty="0"/>
              <a:t>₹1,89,160 – ₹8,26,600 per year</a:t>
            </a:r>
            <a:endParaRPr lang="en-IN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5800" y="1285027"/>
            <a:ext cx="16230600" cy="1260864"/>
          </a:xfrm>
          <a:custGeom>
            <a:avLst/>
            <a:gdLst/>
            <a:ahLst/>
            <a:cxnLst/>
            <a:rect l="l" t="t" r="r" b="b"/>
            <a:pathLst>
              <a:path w="16230600" h="1260864">
                <a:moveTo>
                  <a:pt x="0" y="0"/>
                </a:moveTo>
                <a:lnTo>
                  <a:pt x="16230600" y="0"/>
                </a:lnTo>
                <a:lnTo>
                  <a:pt x="16230600" y="1260864"/>
                </a:lnTo>
                <a:lnTo>
                  <a:pt x="0" y="1260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19798" y="1585616"/>
            <a:ext cx="11648401" cy="98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ECA406"/>
                </a:solidFill>
                <a:latin typeface="Telegraf Bold"/>
                <a:ea typeface="Telegraf Bold"/>
                <a:cs typeface="Telegraf Bold"/>
                <a:sym typeface="Telegraf Bold"/>
              </a:rPr>
              <a:t>Revenue Model</a:t>
            </a:r>
          </a:p>
        </p:txBody>
      </p:sp>
      <p:sp>
        <p:nvSpPr>
          <p:cNvPr id="6" name="Freeform 6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05800" y="210602"/>
            <a:ext cx="2918460" cy="1060031"/>
          </a:xfrm>
          <a:custGeom>
            <a:avLst/>
            <a:gdLst/>
            <a:ahLst/>
            <a:cxnLst/>
            <a:rect l="l" t="t" r="r" b="b"/>
            <a:pathLst>
              <a:path w="2918460" h="1060031">
                <a:moveTo>
                  <a:pt x="0" y="0"/>
                </a:moveTo>
                <a:lnTo>
                  <a:pt x="2918460" y="0"/>
                </a:lnTo>
                <a:lnTo>
                  <a:pt x="2918460" y="1060031"/>
                </a:lnTo>
                <a:lnTo>
                  <a:pt x="0" y="10600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657" b="-565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324" r="-6324"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B4A2A-56A3-6D33-73C2-B328EF7A0246}"/>
              </a:ext>
            </a:extLst>
          </p:cNvPr>
          <p:cNvSpPr txBox="1"/>
          <p:nvPr/>
        </p:nvSpPr>
        <p:spPr>
          <a:xfrm>
            <a:off x="685800" y="3113429"/>
            <a:ext cx="158496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Subscription-Based Model:</a:t>
            </a:r>
          </a:p>
          <a:p>
            <a:r>
              <a:rPr lang="en-IN" sz="2800" dirty="0"/>
              <a:t>Offer monthly or annual premium plans with extra features like AI-powered pseudocode generation, cloud storage, or real-time collaboration.</a:t>
            </a:r>
          </a:p>
          <a:p>
            <a:endParaRPr lang="en-IN" sz="2800" dirty="0"/>
          </a:p>
          <a:p>
            <a:r>
              <a:rPr lang="en-IN" sz="2800" b="1" dirty="0"/>
              <a:t>Freemium Model:</a:t>
            </a:r>
          </a:p>
          <a:p>
            <a:r>
              <a:rPr lang="en-IN" sz="2800" dirty="0"/>
              <a:t>Basic version free, but advanced features (e.g., AI assistance, debugging tools) require a one-time purchase or a subscription.</a:t>
            </a:r>
          </a:p>
          <a:p>
            <a:endParaRPr lang="en-IN" sz="2800" dirty="0"/>
          </a:p>
          <a:p>
            <a:r>
              <a:rPr lang="en-IN" sz="2800" b="1" dirty="0"/>
              <a:t>One-Time Licensing Fee:</a:t>
            </a:r>
          </a:p>
          <a:p>
            <a:r>
              <a:rPr lang="en-IN" sz="2800" dirty="0"/>
              <a:t>Charge educational institutions or companies a fixed fee for access.</a:t>
            </a:r>
          </a:p>
          <a:p>
            <a:endParaRPr lang="en-IN" sz="2800" dirty="0"/>
          </a:p>
          <a:p>
            <a:r>
              <a:rPr lang="en-IN" sz="2800" b="1" dirty="0"/>
              <a:t>Advertisement-Based Model:</a:t>
            </a:r>
          </a:p>
          <a:p>
            <a:r>
              <a:rPr lang="en-IN" sz="2800" dirty="0"/>
              <a:t>Display non-intrusive ads for free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437122"/>
            <a:ext cx="16040100" cy="3401578"/>
          </a:xfrm>
          <a:custGeom>
            <a:avLst/>
            <a:gdLst/>
            <a:ahLst/>
            <a:cxnLst/>
            <a:rect l="l" t="t" r="r" b="b"/>
            <a:pathLst>
              <a:path w="16040100" h="3401578">
                <a:moveTo>
                  <a:pt x="0" y="0"/>
                </a:moveTo>
                <a:lnTo>
                  <a:pt x="16040100" y="0"/>
                </a:lnTo>
                <a:lnTo>
                  <a:pt x="16040100" y="3401578"/>
                </a:lnTo>
                <a:lnTo>
                  <a:pt x="0" y="3401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17220" y="5372365"/>
            <a:ext cx="3372968" cy="3131201"/>
          </a:xfrm>
          <a:custGeom>
            <a:avLst/>
            <a:gdLst/>
            <a:ahLst/>
            <a:cxnLst/>
            <a:rect l="l" t="t" r="r" b="b"/>
            <a:pathLst>
              <a:path w="3372968" h="3131201">
                <a:moveTo>
                  <a:pt x="0" y="0"/>
                </a:moveTo>
                <a:lnTo>
                  <a:pt x="3372968" y="0"/>
                </a:lnTo>
                <a:lnTo>
                  <a:pt x="3372968" y="3131201"/>
                </a:lnTo>
                <a:lnTo>
                  <a:pt x="0" y="31312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446880" y="5372365"/>
            <a:ext cx="3372968" cy="3131201"/>
          </a:xfrm>
          <a:custGeom>
            <a:avLst/>
            <a:gdLst/>
            <a:ahLst/>
            <a:cxnLst/>
            <a:rect l="l" t="t" r="r" b="b"/>
            <a:pathLst>
              <a:path w="3372968" h="3131201">
                <a:moveTo>
                  <a:pt x="0" y="0"/>
                </a:moveTo>
                <a:lnTo>
                  <a:pt x="3372968" y="0"/>
                </a:lnTo>
                <a:lnTo>
                  <a:pt x="3372968" y="3131201"/>
                </a:lnTo>
                <a:lnTo>
                  <a:pt x="0" y="31312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70948" y="5372365"/>
            <a:ext cx="3372968" cy="3131201"/>
          </a:xfrm>
          <a:custGeom>
            <a:avLst/>
            <a:gdLst/>
            <a:ahLst/>
            <a:cxnLst/>
            <a:rect l="l" t="t" r="r" b="b"/>
            <a:pathLst>
              <a:path w="3372968" h="3131201">
                <a:moveTo>
                  <a:pt x="0" y="0"/>
                </a:moveTo>
                <a:lnTo>
                  <a:pt x="3372968" y="0"/>
                </a:lnTo>
                <a:lnTo>
                  <a:pt x="3372968" y="3131201"/>
                </a:lnTo>
                <a:lnTo>
                  <a:pt x="0" y="31312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01141" y="5355281"/>
            <a:ext cx="3372968" cy="3131201"/>
          </a:xfrm>
          <a:custGeom>
            <a:avLst/>
            <a:gdLst/>
            <a:ahLst/>
            <a:cxnLst/>
            <a:rect l="l" t="t" r="r" b="b"/>
            <a:pathLst>
              <a:path w="3372968" h="3131201">
                <a:moveTo>
                  <a:pt x="0" y="0"/>
                </a:moveTo>
                <a:lnTo>
                  <a:pt x="3372968" y="0"/>
                </a:lnTo>
                <a:lnTo>
                  <a:pt x="3372968" y="3131201"/>
                </a:lnTo>
                <a:lnTo>
                  <a:pt x="0" y="31312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48970" y="7678076"/>
            <a:ext cx="1509468" cy="1580224"/>
          </a:xfrm>
          <a:custGeom>
            <a:avLst/>
            <a:gdLst/>
            <a:ahLst/>
            <a:cxnLst/>
            <a:rect l="l" t="t" r="r" b="b"/>
            <a:pathLst>
              <a:path w="1509468" h="1580224">
                <a:moveTo>
                  <a:pt x="0" y="0"/>
                </a:moveTo>
                <a:lnTo>
                  <a:pt x="1509468" y="0"/>
                </a:lnTo>
                <a:lnTo>
                  <a:pt x="1509468" y="1580224"/>
                </a:lnTo>
                <a:lnTo>
                  <a:pt x="0" y="1580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78630" y="7678076"/>
            <a:ext cx="1509468" cy="1580224"/>
          </a:xfrm>
          <a:custGeom>
            <a:avLst/>
            <a:gdLst/>
            <a:ahLst/>
            <a:cxnLst/>
            <a:rect l="l" t="t" r="r" b="b"/>
            <a:pathLst>
              <a:path w="1509468" h="1580224">
                <a:moveTo>
                  <a:pt x="0" y="0"/>
                </a:moveTo>
                <a:lnTo>
                  <a:pt x="1509468" y="0"/>
                </a:lnTo>
                <a:lnTo>
                  <a:pt x="1509468" y="1580224"/>
                </a:lnTo>
                <a:lnTo>
                  <a:pt x="0" y="1580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402698" y="7678076"/>
            <a:ext cx="1509468" cy="1580224"/>
          </a:xfrm>
          <a:custGeom>
            <a:avLst/>
            <a:gdLst/>
            <a:ahLst/>
            <a:cxnLst/>
            <a:rect l="l" t="t" r="r" b="b"/>
            <a:pathLst>
              <a:path w="1509468" h="1580224">
                <a:moveTo>
                  <a:pt x="0" y="0"/>
                </a:moveTo>
                <a:lnTo>
                  <a:pt x="1509468" y="0"/>
                </a:lnTo>
                <a:lnTo>
                  <a:pt x="1509468" y="1580224"/>
                </a:lnTo>
                <a:lnTo>
                  <a:pt x="0" y="1580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26766" y="7678076"/>
            <a:ext cx="1509468" cy="1580224"/>
          </a:xfrm>
          <a:custGeom>
            <a:avLst/>
            <a:gdLst/>
            <a:ahLst/>
            <a:cxnLst/>
            <a:rect l="l" t="t" r="r" b="b"/>
            <a:pathLst>
              <a:path w="1509468" h="1580224">
                <a:moveTo>
                  <a:pt x="0" y="0"/>
                </a:moveTo>
                <a:lnTo>
                  <a:pt x="1509468" y="0"/>
                </a:lnTo>
                <a:lnTo>
                  <a:pt x="1509468" y="1580224"/>
                </a:lnTo>
                <a:lnTo>
                  <a:pt x="0" y="1580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3820338" y="8427366"/>
            <a:ext cx="2596392" cy="152400"/>
            <a:chOff x="0" y="0"/>
            <a:chExt cx="3461856" cy="203200"/>
          </a:xfrm>
        </p:grpSpPr>
        <p:sp>
          <p:nvSpPr>
            <p:cNvPr id="13" name="Freeform 13"/>
            <p:cNvSpPr/>
            <p:nvPr/>
          </p:nvSpPr>
          <p:spPr>
            <a:xfrm>
              <a:off x="49276" y="0"/>
              <a:ext cx="3363341" cy="203200"/>
            </a:xfrm>
            <a:custGeom>
              <a:avLst/>
              <a:gdLst/>
              <a:ahLst/>
              <a:cxnLst/>
              <a:rect l="l" t="t" r="r" b="b"/>
              <a:pathLst>
                <a:path w="3363341" h="203200">
                  <a:moveTo>
                    <a:pt x="3048" y="0"/>
                  </a:moveTo>
                  <a:lnTo>
                    <a:pt x="3363341" y="101600"/>
                  </a:lnTo>
                  <a:lnTo>
                    <a:pt x="3360293" y="2032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849998" y="8427366"/>
            <a:ext cx="2596392" cy="76200"/>
            <a:chOff x="0" y="0"/>
            <a:chExt cx="3461856" cy="101600"/>
          </a:xfrm>
        </p:grpSpPr>
        <p:sp>
          <p:nvSpPr>
            <p:cNvPr id="15" name="Freeform 15"/>
            <p:cNvSpPr/>
            <p:nvPr/>
          </p:nvSpPr>
          <p:spPr>
            <a:xfrm>
              <a:off x="50800" y="0"/>
              <a:ext cx="3360293" cy="101600"/>
            </a:xfrm>
            <a:custGeom>
              <a:avLst/>
              <a:gdLst/>
              <a:ahLst/>
              <a:cxnLst/>
              <a:rect l="l" t="t" r="r" b="b"/>
              <a:pathLst>
                <a:path w="3360293" h="101600">
                  <a:moveTo>
                    <a:pt x="0" y="0"/>
                  </a:moveTo>
                  <a:lnTo>
                    <a:pt x="3360293" y="0"/>
                  </a:lnTo>
                  <a:lnTo>
                    <a:pt x="336029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1874066" y="8427366"/>
            <a:ext cx="2596392" cy="76200"/>
            <a:chOff x="0" y="0"/>
            <a:chExt cx="3461856" cy="101600"/>
          </a:xfrm>
        </p:grpSpPr>
        <p:sp>
          <p:nvSpPr>
            <p:cNvPr id="17" name="Freeform 17"/>
            <p:cNvSpPr/>
            <p:nvPr/>
          </p:nvSpPr>
          <p:spPr>
            <a:xfrm>
              <a:off x="50800" y="0"/>
              <a:ext cx="3360293" cy="101600"/>
            </a:xfrm>
            <a:custGeom>
              <a:avLst/>
              <a:gdLst/>
              <a:ahLst/>
              <a:cxnLst/>
              <a:rect l="l" t="t" r="r" b="b"/>
              <a:pathLst>
                <a:path w="3360293" h="101600">
                  <a:moveTo>
                    <a:pt x="0" y="0"/>
                  </a:moveTo>
                  <a:lnTo>
                    <a:pt x="3360293" y="0"/>
                  </a:lnTo>
                  <a:lnTo>
                    <a:pt x="336029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624010" y="8084052"/>
            <a:ext cx="959388" cy="839028"/>
            <a:chOff x="0" y="0"/>
            <a:chExt cx="1279184" cy="11187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79144" cy="1118743"/>
            </a:xfrm>
            <a:custGeom>
              <a:avLst/>
              <a:gdLst/>
              <a:ahLst/>
              <a:cxnLst/>
              <a:rect l="l" t="t" r="r" b="b"/>
              <a:pathLst>
                <a:path w="1279144" h="1118743">
                  <a:moveTo>
                    <a:pt x="0" y="0"/>
                  </a:moveTo>
                  <a:lnTo>
                    <a:pt x="1279144" y="0"/>
                  </a:lnTo>
                  <a:lnTo>
                    <a:pt x="1279144" y="1118743"/>
                  </a:lnTo>
                  <a:lnTo>
                    <a:pt x="0" y="1118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79" r="-3" b="-376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6602094" y="8244400"/>
            <a:ext cx="1056948" cy="594533"/>
            <a:chOff x="0" y="0"/>
            <a:chExt cx="1409264" cy="79271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09319" cy="792734"/>
            </a:xfrm>
            <a:custGeom>
              <a:avLst/>
              <a:gdLst/>
              <a:ahLst/>
              <a:cxnLst/>
              <a:rect l="l" t="t" r="r" b="b"/>
              <a:pathLst>
                <a:path w="1409319" h="792734">
                  <a:moveTo>
                    <a:pt x="0" y="0"/>
                  </a:moveTo>
                  <a:lnTo>
                    <a:pt x="1409319" y="0"/>
                  </a:lnTo>
                  <a:lnTo>
                    <a:pt x="1409319" y="792734"/>
                  </a:lnTo>
                  <a:lnTo>
                    <a:pt x="0" y="792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450" r="3" b="-447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0616828" y="8155239"/>
            <a:ext cx="1081208" cy="662486"/>
            <a:chOff x="0" y="0"/>
            <a:chExt cx="1441611" cy="8833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41577" cy="883285"/>
            </a:xfrm>
            <a:custGeom>
              <a:avLst/>
              <a:gdLst/>
              <a:ahLst/>
              <a:cxnLst/>
              <a:rect l="l" t="t" r="r" b="b"/>
              <a:pathLst>
                <a:path w="1441577" h="883285">
                  <a:moveTo>
                    <a:pt x="0" y="0"/>
                  </a:moveTo>
                  <a:lnTo>
                    <a:pt x="1441577" y="0"/>
                  </a:lnTo>
                  <a:lnTo>
                    <a:pt x="1441577" y="883285"/>
                  </a:lnTo>
                  <a:lnTo>
                    <a:pt x="0" y="883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822" r="-2" b="-825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4840287" y="7976629"/>
            <a:ext cx="694675" cy="1019707"/>
            <a:chOff x="0" y="0"/>
            <a:chExt cx="926233" cy="135960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26211" cy="1359662"/>
            </a:xfrm>
            <a:custGeom>
              <a:avLst/>
              <a:gdLst/>
              <a:ahLst/>
              <a:cxnLst/>
              <a:rect l="l" t="t" r="r" b="b"/>
              <a:pathLst>
                <a:path w="926211" h="1359662">
                  <a:moveTo>
                    <a:pt x="0" y="0"/>
                  </a:moveTo>
                  <a:lnTo>
                    <a:pt x="926211" y="0"/>
                  </a:lnTo>
                  <a:lnTo>
                    <a:pt x="926211" y="1359662"/>
                  </a:lnTo>
                  <a:lnTo>
                    <a:pt x="0" y="1359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88" r="-291" b="3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845487" y="6937210"/>
            <a:ext cx="2516435" cy="38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Q2 2025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20401" y="5991377"/>
            <a:ext cx="2966607" cy="92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64"/>
              </a:lnSpc>
            </a:pPr>
            <a:r>
              <a:rPr lang="en-US" sz="42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Prototype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58438" y="3242909"/>
            <a:ext cx="10447050" cy="91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What are your next steps and goals? How much support do you need from investors and what will it get you?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19799" y="2212001"/>
            <a:ext cx="11511683" cy="98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ECA406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Roadmap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872351" y="6937210"/>
            <a:ext cx="2516435" cy="38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Q3 2025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47265" y="5991377"/>
            <a:ext cx="2966607" cy="92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64"/>
              </a:lnSpc>
            </a:pPr>
            <a:r>
              <a:rPr lang="en-US" sz="42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Launch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899215" y="6937210"/>
            <a:ext cx="2516435" cy="38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Q4 2025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74129" y="5991377"/>
            <a:ext cx="2966607" cy="92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64"/>
              </a:lnSpc>
            </a:pPr>
            <a:r>
              <a:rPr lang="en-US" sz="42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V2.0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26079" y="6937210"/>
            <a:ext cx="2516435" cy="38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Q1 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700993" y="5991377"/>
            <a:ext cx="2966607" cy="92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64"/>
              </a:lnSpc>
            </a:pPr>
            <a:r>
              <a:rPr lang="en-US" sz="4200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V2.2</a:t>
            </a:r>
          </a:p>
        </p:txBody>
      </p:sp>
      <p:sp>
        <p:nvSpPr>
          <p:cNvPr id="36" name="Freeform 36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8305800" y="210602"/>
            <a:ext cx="2918460" cy="1060031"/>
          </a:xfrm>
          <a:custGeom>
            <a:avLst/>
            <a:gdLst/>
            <a:ahLst/>
            <a:cxnLst/>
            <a:rect l="l" t="t" r="r" b="b"/>
            <a:pathLst>
              <a:path w="2918460" h="1060031">
                <a:moveTo>
                  <a:pt x="0" y="0"/>
                </a:moveTo>
                <a:lnTo>
                  <a:pt x="2918460" y="0"/>
                </a:lnTo>
                <a:lnTo>
                  <a:pt x="2918460" y="1060031"/>
                </a:lnTo>
                <a:lnTo>
                  <a:pt x="0" y="10600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5657" b="-5657"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6324" r="-6324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" r="-6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93967" y="2068189"/>
            <a:ext cx="15700066" cy="342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sz="16243" b="1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571634"/>
            <a:ext cx="16230600" cy="86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ECA406"/>
                </a:solidFill>
                <a:latin typeface="Poppins"/>
                <a:ea typeface="Poppins"/>
                <a:cs typeface="Poppins"/>
                <a:sym typeface="Poppins"/>
              </a:rPr>
              <a:t>FOR YOUR TIME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6400" y="8895452"/>
            <a:ext cx="7667839" cy="106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Supported by - Arya Incubation Cell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Arya College of IT &amp; Engineering </a:t>
            </a:r>
          </a:p>
        </p:txBody>
      </p:sp>
      <p:sp>
        <p:nvSpPr>
          <p:cNvPr id="6" name="Freeform 6"/>
          <p:cNvSpPr/>
          <p:nvPr/>
        </p:nvSpPr>
        <p:spPr>
          <a:xfrm>
            <a:off x="7348021" y="7719701"/>
            <a:ext cx="4013599" cy="1457803"/>
          </a:xfrm>
          <a:custGeom>
            <a:avLst/>
            <a:gdLst/>
            <a:ahLst/>
            <a:cxnLst/>
            <a:rect l="l" t="t" r="r" b="b"/>
            <a:pathLst>
              <a:path w="4013599" h="1457803">
                <a:moveTo>
                  <a:pt x="0" y="0"/>
                </a:moveTo>
                <a:lnTo>
                  <a:pt x="4013599" y="0"/>
                </a:lnTo>
                <a:lnTo>
                  <a:pt x="4013599" y="1457803"/>
                </a:lnTo>
                <a:lnTo>
                  <a:pt x="0" y="1457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657" b="-565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35401" y="130491"/>
            <a:ext cx="1369358" cy="1369358"/>
          </a:xfrm>
          <a:custGeom>
            <a:avLst/>
            <a:gdLst/>
            <a:ahLst/>
            <a:cxnLst/>
            <a:rect l="l" t="t" r="r" b="b"/>
            <a:pathLst>
              <a:path w="1369358" h="1369358">
                <a:moveTo>
                  <a:pt x="0" y="0"/>
                </a:moveTo>
                <a:lnTo>
                  <a:pt x="1369358" y="0"/>
                </a:lnTo>
                <a:lnTo>
                  <a:pt x="1369358" y="1369358"/>
                </a:lnTo>
                <a:lnTo>
                  <a:pt x="0" y="136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" y="289561"/>
            <a:ext cx="3200400" cy="846332"/>
          </a:xfrm>
          <a:custGeom>
            <a:avLst/>
            <a:gdLst/>
            <a:ahLst/>
            <a:cxnLst/>
            <a:rect l="l" t="t" r="r" b="b"/>
            <a:pathLst>
              <a:path w="3200400" h="846332">
                <a:moveTo>
                  <a:pt x="0" y="0"/>
                </a:moveTo>
                <a:lnTo>
                  <a:pt x="3200400" y="0"/>
                </a:lnTo>
                <a:lnTo>
                  <a:pt x="3200400" y="846332"/>
                </a:lnTo>
                <a:lnTo>
                  <a:pt x="0" y="84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24" r="-632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668</Words>
  <Application>Microsoft Office PowerPoint</Application>
  <PresentationFormat>Custom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Arimo</vt:lpstr>
      <vt:lpstr>Calibri</vt:lpstr>
      <vt:lpstr>Poppins</vt:lpstr>
      <vt:lpstr>Open Sans Bold</vt:lpstr>
      <vt:lpstr>Open Sans</vt:lpstr>
      <vt:lpstr>Telegraf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Mentor: Dr. Vibhakar Pathak</dc:title>
  <dc:creator>HP</dc:creator>
  <cp:lastModifiedBy>vivek jha</cp:lastModifiedBy>
  <cp:revision>2</cp:revision>
  <dcterms:created xsi:type="dcterms:W3CDTF">2006-08-16T00:00:00Z</dcterms:created>
  <dcterms:modified xsi:type="dcterms:W3CDTF">2025-02-10T04:07:50Z</dcterms:modified>
  <dc:identifier>DAGen3n4EeY</dc:identifier>
</cp:coreProperties>
</file>